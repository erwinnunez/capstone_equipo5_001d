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Montserrat Bold" charset="1" panose="00000800000000000000"/>
      <p:regular r:id="rId27"/>
    </p:embeddedFont>
    <p:embeddedFont>
      <p:font typeface="Montserrat" charset="1" panose="00000500000000000000"/>
      <p:regular r:id="rId28"/>
    </p:embeddedFont>
    <p:embeddedFont>
      <p:font typeface="Montserrat Medium" charset="1" panose="00000600000000000000"/>
      <p:regular r:id="rId29"/>
    </p:embeddedFont>
    <p:embeddedFont>
      <p:font typeface="Montserrat Semi-Bold" charset="1" panose="000007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333" t="0" r="-33333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411815" y="6585624"/>
            <a:ext cx="12114058" cy="0"/>
          </a:xfrm>
          <a:prstGeom prst="line">
            <a:avLst/>
          </a:prstGeom>
          <a:ln cap="flat" w="666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1815" y="7805715"/>
            <a:ext cx="364148" cy="238384"/>
            <a:chOff x="0" y="0"/>
            <a:chExt cx="1241608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1608" cy="812800"/>
            </a:xfrm>
            <a:custGeom>
              <a:avLst/>
              <a:gdLst/>
              <a:ahLst/>
              <a:cxnLst/>
              <a:rect r="r" b="b" t="t" l="l"/>
              <a:pathLst>
                <a:path h="812800" w="1241608">
                  <a:moveTo>
                    <a:pt x="620804" y="0"/>
                  </a:moveTo>
                  <a:cubicBezTo>
                    <a:pt x="277943" y="0"/>
                    <a:pt x="0" y="181951"/>
                    <a:pt x="0" y="406400"/>
                  </a:cubicBezTo>
                  <a:cubicBezTo>
                    <a:pt x="0" y="630849"/>
                    <a:pt x="277943" y="812800"/>
                    <a:pt x="620804" y="812800"/>
                  </a:cubicBezTo>
                  <a:cubicBezTo>
                    <a:pt x="963664" y="812800"/>
                    <a:pt x="1241608" y="630849"/>
                    <a:pt x="1241608" y="406400"/>
                  </a:cubicBezTo>
                  <a:cubicBezTo>
                    <a:pt x="1241608" y="181951"/>
                    <a:pt x="963664" y="0"/>
                    <a:pt x="620804" y="0"/>
                  </a:cubicBez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16401" y="66675"/>
              <a:ext cx="100880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8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57123" y="2987001"/>
            <a:ext cx="13983875" cy="287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49"/>
              </a:lnSpc>
            </a:pPr>
            <a:r>
              <a:rPr lang="en-US" sz="16820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CuidaSalud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41584" y="7780762"/>
            <a:ext cx="251657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Erwin Nuñez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true">
                <a:solidFill>
                  <a:srgbClr val="2254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11815" y="8119207"/>
            <a:ext cx="364148" cy="238384"/>
            <a:chOff x="0" y="0"/>
            <a:chExt cx="1241608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41608" cy="812800"/>
            </a:xfrm>
            <a:custGeom>
              <a:avLst/>
              <a:gdLst/>
              <a:ahLst/>
              <a:cxnLst/>
              <a:rect r="r" b="b" t="t" l="l"/>
              <a:pathLst>
                <a:path h="812800" w="1241608">
                  <a:moveTo>
                    <a:pt x="620804" y="0"/>
                  </a:moveTo>
                  <a:cubicBezTo>
                    <a:pt x="277943" y="0"/>
                    <a:pt x="0" y="181951"/>
                    <a:pt x="0" y="406400"/>
                  </a:cubicBezTo>
                  <a:cubicBezTo>
                    <a:pt x="0" y="630849"/>
                    <a:pt x="277943" y="812800"/>
                    <a:pt x="620804" y="812800"/>
                  </a:cubicBezTo>
                  <a:cubicBezTo>
                    <a:pt x="963664" y="812800"/>
                    <a:pt x="1241608" y="630849"/>
                    <a:pt x="1241608" y="406400"/>
                  </a:cubicBezTo>
                  <a:cubicBezTo>
                    <a:pt x="1241608" y="181951"/>
                    <a:pt x="963664" y="0"/>
                    <a:pt x="620804" y="0"/>
                  </a:cubicBez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16401" y="66675"/>
              <a:ext cx="100880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8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941584" y="8094254"/>
            <a:ext cx="251657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Capstone - 001D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11815" y="8443316"/>
            <a:ext cx="364148" cy="238384"/>
            <a:chOff x="0" y="0"/>
            <a:chExt cx="1241608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1608" cy="812800"/>
            </a:xfrm>
            <a:custGeom>
              <a:avLst/>
              <a:gdLst/>
              <a:ahLst/>
              <a:cxnLst/>
              <a:rect r="r" b="b" t="t" l="l"/>
              <a:pathLst>
                <a:path h="812800" w="1241608">
                  <a:moveTo>
                    <a:pt x="620804" y="0"/>
                  </a:moveTo>
                  <a:cubicBezTo>
                    <a:pt x="277943" y="0"/>
                    <a:pt x="0" y="181951"/>
                    <a:pt x="0" y="406400"/>
                  </a:cubicBezTo>
                  <a:cubicBezTo>
                    <a:pt x="0" y="630849"/>
                    <a:pt x="277943" y="812800"/>
                    <a:pt x="620804" y="812800"/>
                  </a:cubicBezTo>
                  <a:cubicBezTo>
                    <a:pt x="963664" y="812800"/>
                    <a:pt x="1241608" y="630849"/>
                    <a:pt x="1241608" y="406400"/>
                  </a:cubicBezTo>
                  <a:cubicBezTo>
                    <a:pt x="1241608" y="181951"/>
                    <a:pt x="963664" y="0"/>
                    <a:pt x="620804" y="0"/>
                  </a:cubicBez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16401" y="66675"/>
              <a:ext cx="100880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85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941584" y="8418363"/>
            <a:ext cx="251657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Jazna Meza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411815" y="8756808"/>
            <a:ext cx="364148" cy="238384"/>
            <a:chOff x="0" y="0"/>
            <a:chExt cx="1241608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41608" cy="812800"/>
            </a:xfrm>
            <a:custGeom>
              <a:avLst/>
              <a:gdLst/>
              <a:ahLst/>
              <a:cxnLst/>
              <a:rect r="r" b="b" t="t" l="l"/>
              <a:pathLst>
                <a:path h="812800" w="1241608">
                  <a:moveTo>
                    <a:pt x="620804" y="0"/>
                  </a:moveTo>
                  <a:cubicBezTo>
                    <a:pt x="277943" y="0"/>
                    <a:pt x="0" y="181951"/>
                    <a:pt x="0" y="406400"/>
                  </a:cubicBezTo>
                  <a:cubicBezTo>
                    <a:pt x="0" y="630849"/>
                    <a:pt x="277943" y="812800"/>
                    <a:pt x="620804" y="812800"/>
                  </a:cubicBezTo>
                  <a:cubicBezTo>
                    <a:pt x="963664" y="812800"/>
                    <a:pt x="1241608" y="630849"/>
                    <a:pt x="1241608" y="406400"/>
                  </a:cubicBezTo>
                  <a:cubicBezTo>
                    <a:pt x="1241608" y="181951"/>
                    <a:pt x="963664" y="0"/>
                    <a:pt x="620804" y="0"/>
                  </a:cubicBez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16401" y="66675"/>
              <a:ext cx="1008806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85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941584" y="8731855"/>
            <a:ext cx="2516574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Juan Mellado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850061" y="793106"/>
            <a:ext cx="6437939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086100"/>
            <a:ext cx="3914204" cy="4114800"/>
          </a:xfrm>
          <a:custGeom>
            <a:avLst/>
            <a:gdLst/>
            <a:ahLst/>
            <a:cxnLst/>
            <a:rect r="r" b="b" t="t" l="l"/>
            <a:pathLst>
              <a:path h="4114800" w="3914204">
                <a:moveTo>
                  <a:pt x="0" y="0"/>
                </a:moveTo>
                <a:lnTo>
                  <a:pt x="3914204" y="0"/>
                </a:lnTo>
                <a:lnTo>
                  <a:pt x="39142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20457" y="1282026"/>
            <a:ext cx="4447086" cy="139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51"/>
              </a:lnSpc>
            </a:pPr>
            <a:r>
              <a:rPr lang="en-US" sz="9360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Equipo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6" b="true">
                <a:solidFill>
                  <a:srgbClr val="2254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43647" y="4358566"/>
            <a:ext cx="7120405" cy="2725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6"/>
              </a:lnSpc>
            </a:pPr>
            <a:r>
              <a:rPr lang="en-US" sz="366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Erwin Nuñez</a:t>
            </a:r>
          </a:p>
          <a:p>
            <a:pPr algn="l">
              <a:lnSpc>
                <a:spcPts val="4156"/>
              </a:lnSpc>
            </a:pPr>
          </a:p>
          <a:p>
            <a:pPr algn="l" marL="641035" indent="-320518" lvl="1">
              <a:lnSpc>
                <a:spcPts val="4156"/>
              </a:lnSpc>
              <a:buFont typeface="Arial"/>
              <a:buChar char="•"/>
            </a:pPr>
            <a:r>
              <a:rPr lang="en-US" sz="296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Jefe de proyectos | equipo de desarrollo</a:t>
            </a:r>
          </a:p>
          <a:p>
            <a:pPr algn="l" marL="641035" indent="-320518" lvl="1">
              <a:lnSpc>
                <a:spcPts val="4156"/>
              </a:lnSpc>
              <a:buFont typeface="Arial"/>
              <a:buChar char="•"/>
            </a:pPr>
            <a:r>
              <a:rPr lang="en-US" sz="296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Creación de solución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970252" y="9719678"/>
            <a:ext cx="2033560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587511" y="1301532"/>
            <a:ext cx="4671789" cy="3853551"/>
          </a:xfrm>
          <a:custGeom>
            <a:avLst/>
            <a:gdLst/>
            <a:ahLst/>
            <a:cxnLst/>
            <a:rect r="r" b="b" t="t" l="l"/>
            <a:pathLst>
              <a:path h="3853551" w="4671789">
                <a:moveTo>
                  <a:pt x="0" y="0"/>
                </a:moveTo>
                <a:lnTo>
                  <a:pt x="4671789" y="0"/>
                </a:lnTo>
                <a:lnTo>
                  <a:pt x="4671789" y="3853551"/>
                </a:lnTo>
                <a:lnTo>
                  <a:pt x="0" y="38535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639" t="-10529" r="-33959" b="-10529"/>
            </a:stretch>
          </a:blipFill>
        </p:spPr>
      </p:sp>
      <p:sp>
        <p:nvSpPr>
          <p:cNvPr name="AutoShape 4" id="4"/>
          <p:cNvSpPr/>
          <p:nvPr/>
        </p:nvSpPr>
        <p:spPr>
          <a:xfrm flipV="true">
            <a:off x="11850061" y="793106"/>
            <a:ext cx="697692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872685" y="5374158"/>
            <a:ext cx="2623185" cy="4114800"/>
          </a:xfrm>
          <a:custGeom>
            <a:avLst/>
            <a:gdLst/>
            <a:ahLst/>
            <a:cxnLst/>
            <a:rect r="r" b="b" t="t" l="l"/>
            <a:pathLst>
              <a:path h="4114800" w="2623185">
                <a:moveTo>
                  <a:pt x="0" y="0"/>
                </a:moveTo>
                <a:lnTo>
                  <a:pt x="2623185" y="0"/>
                </a:lnTo>
                <a:lnTo>
                  <a:pt x="26231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71235" y="1511115"/>
            <a:ext cx="9568716" cy="213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70"/>
              </a:lnSpc>
            </a:pPr>
            <a:r>
              <a:rPr lang="en-US" sz="12478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1235" y="3860940"/>
            <a:ext cx="9568716" cy="500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 atención</a:t>
            </a: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primaria de salud enfrenta dificultades para gestionar y analizar de manera centralizada las alertas provenientes de mediciones clínicas como glucosa, presión arterial, saturación de oxígeno y temperatura. Actualmente, los datos se encuentran dispersos y sin una trazabilidad clara, lo que genera respuestas tardías ante situaciones críticas y limita la capacidad de los CESFAM para identificar patrones, medir tiempos de reacción y tomar decisiones basadas en datos. Esta situación afecta directamente a pacientes crónicos, equipos médicos y gestores de salud, quienes requieren información oportuna y organizada para prevenir riesgos y mejorar la calidad de la atención.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8370" y="3179932"/>
            <a:ext cx="6649428" cy="5461192"/>
          </a:xfrm>
          <a:custGeom>
            <a:avLst/>
            <a:gdLst/>
            <a:ahLst/>
            <a:cxnLst/>
            <a:rect r="r" b="b" t="t" l="l"/>
            <a:pathLst>
              <a:path h="5461192" w="6649428">
                <a:moveTo>
                  <a:pt x="0" y="0"/>
                </a:moveTo>
                <a:lnTo>
                  <a:pt x="6649428" y="0"/>
                </a:lnTo>
                <a:lnTo>
                  <a:pt x="6649428" y="5461192"/>
                </a:lnTo>
                <a:lnTo>
                  <a:pt x="0" y="54611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482" t="-27825" r="-3209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468039" y="1062951"/>
            <a:ext cx="6210089" cy="1676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01"/>
              </a:lnSpc>
            </a:pPr>
            <a:r>
              <a:rPr lang="en-US" sz="9786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Solución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29082" y="3132307"/>
            <a:ext cx="8696418" cy="546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El proyecto propone un sistema analítico que centraliza las mediciones de salud, automatiza la generación de alertas según niveles de severidad y ofrece indicadores clave como cantidad de alertas, tiempos de respuesta y distribución de enfermedades por comuna. Esta herramienta permite visualizar tendencias, priorizar casos urgentes y fortalecer la gestión clínica mediante datos confiables y accesibles. Con ello, el sistema mejora la eficiencia operativa, facilita la toma de decisiones y apoya el trabajo de los equipos de salud en la atención primaria.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2254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591067" y="5959033"/>
            <a:ext cx="3105865" cy="3098101"/>
          </a:xfrm>
          <a:custGeom>
            <a:avLst/>
            <a:gdLst/>
            <a:ahLst/>
            <a:cxnLst/>
            <a:rect r="r" b="b" t="t" l="l"/>
            <a:pathLst>
              <a:path h="3098101" w="3105865">
                <a:moveTo>
                  <a:pt x="0" y="0"/>
                </a:moveTo>
                <a:lnTo>
                  <a:pt x="3105866" y="0"/>
                </a:lnTo>
                <a:lnTo>
                  <a:pt x="3105866" y="3098101"/>
                </a:lnTo>
                <a:lnTo>
                  <a:pt x="0" y="30981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893697" y="1200265"/>
            <a:ext cx="6500607" cy="117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4"/>
              </a:lnSpc>
            </a:pPr>
            <a:r>
              <a:rPr lang="en-US" sz="8963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74953" y="3914968"/>
            <a:ext cx="14538093" cy="1653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Desarrollar un sistema funcional de apoyo al seguimiento clínico que permita registrar mediciones, gestionar alertas, facilitar comunicación entre pacientes y cuidadores, y generar información útil para equipos médicos, garantizando continuidad del cuidado y autocuidado.</a:t>
            </a:r>
          </a:p>
          <a:p>
            <a:pPr algn="ctr">
              <a:lnSpc>
                <a:spcPts val="33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2254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42521" y="2874929"/>
            <a:ext cx="2802959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5000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General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5893697" y="1200265"/>
            <a:ext cx="6500607" cy="117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4"/>
              </a:lnSpc>
            </a:pPr>
            <a:r>
              <a:rPr lang="en-US" sz="8963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Objetivos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6827" y="3750797"/>
            <a:ext cx="15494345" cy="565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Continuidad del c</a:t>
            </a: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uidado: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Lograr que en un periodo de 6 meses cada paciente tenga ≥85% de días con registro, con una trazabilidad ≥98%. Se espera una mejora de +5 puntos porcentuales por mes. La medición será semanal con cierre mensual.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Respuesta a alertas: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Alcanzar en 3 meses una mediana de reconocimiento ≤10 minutos, un P90 ≤30 minutos y que ≥80% de las alertas críticas se cierren en ≤60 minutos. Se proyecta una mejora de +3 puntos porcentuales por mes. La medición será semanal con cierre mensual.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Autoinformes (autocuidado):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Conseguir en 6 meses un MAU ≥75%, un DAU/MAU ≥40%, al menos 3 autoinformes por semana y una retención de 4 semanas ≥60%. Se busca una mejora mensual de +5 puntos porcentuales en MAU y +1 informe adicional. Medición semanal, cierre mensual.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Comunicación cuidador–familia–equipo: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Lograr que ≥90% de los pacientes cuenten con un cuidador o familiar activo, con ≥85% de lectura de notificaciones y una mediana de respuesta ≤2 horas en un plazo de 4 meses. Se espera una mejora mensual de +4 puntos porcentuales y una reducción de tiempos de respuesta del 10%. Medición semanal, cierre mensual.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Calidad de datos y analítica: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Mantener una disponibilidad del sistema ≥99.5%, completitud ≥97%, errores ≤1%, backups diarios al 100% y un cumplimiento ≥95% en entrega de reportes dentro de ≤24 horas. Meta con mejora de +1 punto porcentual mensual. Medición diaria con reporte mensual.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2254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81821" y="2934822"/>
            <a:ext cx="3988102" cy="65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5000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Específicos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75886" y="1584515"/>
            <a:ext cx="5581589" cy="162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85"/>
              </a:lnSpc>
            </a:pPr>
            <a:r>
              <a:rPr lang="en-US" b="true" sz="9489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Alcance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127716"/>
            <a:ext cx="7675961" cy="3699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Registro digital de parámetros clínicos para pacientes autovalentes y postrados.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Alertas automáticas y dashboard médico interactivo.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 Reportes personalizados para pacientes, cuidadores y centros de salud. 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Gestión de usuarios y sistema de notificaciones.</a:t>
            </a: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2254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  <p:sp>
        <p:nvSpPr>
          <p:cNvPr name="AutoShape 6" id="6"/>
          <p:cNvSpPr/>
          <p:nvPr/>
        </p:nvSpPr>
        <p:spPr>
          <a:xfrm>
            <a:off x="9144000" y="1344445"/>
            <a:ext cx="0" cy="692319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9583339" y="1584515"/>
            <a:ext cx="8141499" cy="162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85"/>
              </a:lnSpc>
            </a:pPr>
            <a:r>
              <a:rPr lang="en-US" b="true" sz="9489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Limitaciones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16108" y="4127716"/>
            <a:ext cx="7675961" cy="44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Ingreso manual inicial sin integración con dispositivos biomédicos.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Dependencia del compromiso de pacientes y cuidadores.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Orientado solo a adultos mayores. 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Requiere acceso a internet y dispositivos. </a:t>
            </a:r>
          </a:p>
          <a:p>
            <a:pPr algn="l">
              <a:lnSpc>
                <a:spcPts val="2940"/>
              </a:lnSpc>
            </a:pP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No tiene versión móvil 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25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970252" y="9719678"/>
            <a:ext cx="2033560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7692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45688" y="3754918"/>
            <a:ext cx="6361037" cy="3180518"/>
          </a:xfrm>
          <a:custGeom>
            <a:avLst/>
            <a:gdLst/>
            <a:ahLst/>
            <a:cxnLst/>
            <a:rect r="r" b="b" t="t" l="l"/>
            <a:pathLst>
              <a:path h="3180518" w="6361037">
                <a:moveTo>
                  <a:pt x="0" y="0"/>
                </a:moveTo>
                <a:lnTo>
                  <a:pt x="6361037" y="0"/>
                </a:lnTo>
                <a:lnTo>
                  <a:pt x="6361037" y="3180518"/>
                </a:lnTo>
                <a:lnTo>
                  <a:pt x="0" y="3180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45688" y="1825018"/>
            <a:ext cx="6044049" cy="1215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2"/>
              </a:lnSpc>
            </a:pPr>
            <a:r>
              <a:rPr lang="en-US" sz="70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Metodología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29213" y="2466118"/>
            <a:ext cx="8421678" cy="668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Scrum permite gestionar el desarrollo del proyecto de manera iterativa e incremental. </a:t>
            </a:r>
          </a:p>
          <a:p>
            <a:pPr algn="l">
              <a:lnSpc>
                <a:spcPts val="3359"/>
              </a:lnSpc>
            </a:pP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Sprints son ciclos cortos de trabajo donde se priorizan los requerimientos más importantes y se generan entregables funcionales al final de cada ciclo. </a:t>
            </a:r>
          </a:p>
          <a:p>
            <a:pPr algn="l">
              <a:lnSpc>
                <a:spcPts val="3359"/>
              </a:lnSpc>
            </a:pP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Esto permitirá recibir retroalimentación continua y hacer ajustes oportunos, asegurando que el proyecto cumpla con los objetivos planteados de manera eficiente y adaptativa. </a:t>
            </a:r>
          </a:p>
          <a:p>
            <a:pPr algn="l">
              <a:lnSpc>
                <a:spcPts val="3359"/>
              </a:lnSpc>
            </a:pP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Roles: Product Owner, Scrum Master, Equipo de desarrollo</a:t>
            </a:r>
          </a:p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4" id="4"/>
          <p:cNvGraphicFramePr/>
          <p:nvPr/>
        </p:nvGraphicFramePr>
        <p:xfrm>
          <a:off x="1028700" y="3091355"/>
          <a:ext cx="16230600" cy="4104290"/>
        </p:xfrm>
        <a:graphic>
          <a:graphicData uri="http://schemas.openxmlformats.org/presentationml/2006/ole">
            <p:oleObj imgW="19469100" imgH="73533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371235" y="1564383"/>
            <a:ext cx="11249127" cy="115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04"/>
              </a:lnSpc>
            </a:pPr>
            <a:r>
              <a:rPr lang="en-US" sz="6717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Planificación Temporal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2254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369443"/>
            <a:ext cx="16230600" cy="4219956"/>
          </a:xfrm>
          <a:custGeom>
            <a:avLst/>
            <a:gdLst/>
            <a:ahLst/>
            <a:cxnLst/>
            <a:rect r="r" b="b" t="t" l="l"/>
            <a:pathLst>
              <a:path h="4219956" w="16230600">
                <a:moveTo>
                  <a:pt x="0" y="0"/>
                </a:moveTo>
                <a:lnTo>
                  <a:pt x="16230600" y="0"/>
                </a:lnTo>
                <a:lnTo>
                  <a:pt x="16230600" y="4219956"/>
                </a:lnTo>
                <a:lnTo>
                  <a:pt x="0" y="42199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65117" y="1583433"/>
            <a:ext cx="12534063" cy="102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8"/>
              </a:lnSpc>
            </a:pPr>
            <a:r>
              <a:rPr lang="en-US" sz="5984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sz="5984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rquitectura del software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2254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65117" y="3059830"/>
            <a:ext cx="15284083" cy="5636006"/>
          </a:xfrm>
          <a:custGeom>
            <a:avLst/>
            <a:gdLst/>
            <a:ahLst/>
            <a:cxnLst/>
            <a:rect r="r" b="b" t="t" l="l"/>
            <a:pathLst>
              <a:path h="5636006" w="15284083">
                <a:moveTo>
                  <a:pt x="0" y="0"/>
                </a:moveTo>
                <a:lnTo>
                  <a:pt x="15284084" y="0"/>
                </a:lnTo>
                <a:lnTo>
                  <a:pt x="15284084" y="5636006"/>
                </a:lnTo>
                <a:lnTo>
                  <a:pt x="0" y="5636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65117" y="1583433"/>
            <a:ext cx="12534063" cy="102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78"/>
              </a:lnSpc>
            </a:pPr>
            <a:r>
              <a:rPr lang="en-US" sz="5984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sz="5984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rquitectura de la solución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2254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170613" y="1984533"/>
            <a:ext cx="7946773" cy="7549434"/>
          </a:xfrm>
          <a:custGeom>
            <a:avLst/>
            <a:gdLst/>
            <a:ahLst/>
            <a:cxnLst/>
            <a:rect r="r" b="b" t="t" l="l"/>
            <a:pathLst>
              <a:path h="7549434" w="7946773">
                <a:moveTo>
                  <a:pt x="0" y="0"/>
                </a:moveTo>
                <a:lnTo>
                  <a:pt x="7946774" y="0"/>
                </a:lnTo>
                <a:lnTo>
                  <a:pt x="7946774" y="7549435"/>
                </a:lnTo>
                <a:lnTo>
                  <a:pt x="0" y="75494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28527" y="550916"/>
            <a:ext cx="9830946" cy="1262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18"/>
              </a:lnSpc>
            </a:pPr>
            <a:r>
              <a:rPr lang="en-US" sz="7370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Modelo de datos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2254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12784" y="2558927"/>
            <a:ext cx="4272015" cy="5764372"/>
          </a:xfrm>
          <a:custGeom>
            <a:avLst/>
            <a:gdLst/>
            <a:ahLst/>
            <a:cxnLst/>
            <a:rect r="r" b="b" t="t" l="l"/>
            <a:pathLst>
              <a:path h="5764372" w="4272015">
                <a:moveTo>
                  <a:pt x="0" y="0"/>
                </a:moveTo>
                <a:lnTo>
                  <a:pt x="4272015" y="0"/>
                </a:lnTo>
                <a:lnTo>
                  <a:pt x="4272015" y="5764372"/>
                </a:lnTo>
                <a:lnTo>
                  <a:pt x="0" y="5764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08584" y="2558927"/>
            <a:ext cx="5803552" cy="5840987"/>
          </a:xfrm>
          <a:custGeom>
            <a:avLst/>
            <a:gdLst/>
            <a:ahLst/>
            <a:cxnLst/>
            <a:rect r="r" b="b" t="t" l="l"/>
            <a:pathLst>
              <a:path h="5840987" w="5803552">
                <a:moveTo>
                  <a:pt x="0" y="0"/>
                </a:moveTo>
                <a:lnTo>
                  <a:pt x="5803552" y="0"/>
                </a:lnTo>
                <a:lnTo>
                  <a:pt x="5803552" y="5840987"/>
                </a:lnTo>
                <a:lnTo>
                  <a:pt x="0" y="5840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2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36036" y="2558927"/>
            <a:ext cx="4723264" cy="5343490"/>
          </a:xfrm>
          <a:custGeom>
            <a:avLst/>
            <a:gdLst/>
            <a:ahLst/>
            <a:cxnLst/>
            <a:rect r="r" b="b" t="t" l="l"/>
            <a:pathLst>
              <a:path h="5343490" w="4723264">
                <a:moveTo>
                  <a:pt x="0" y="0"/>
                </a:moveTo>
                <a:lnTo>
                  <a:pt x="4723264" y="0"/>
                </a:lnTo>
                <a:lnTo>
                  <a:pt x="4723264" y="5343490"/>
                </a:lnTo>
                <a:lnTo>
                  <a:pt x="0" y="5343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28527" y="550916"/>
            <a:ext cx="9830946" cy="1262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18"/>
              </a:lnSpc>
            </a:pPr>
            <a:r>
              <a:rPr lang="en-US" sz="7370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Modelo de datos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2254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8039" y="1565767"/>
            <a:ext cx="15791261" cy="117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4"/>
              </a:lnSpc>
            </a:pPr>
            <a:r>
              <a:rPr lang="en-US" sz="6860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Ele</a:t>
            </a:r>
            <a:r>
              <a:rPr lang="en-US" sz="6860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mentos Analíticos a Incorporar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5353" y="4201736"/>
            <a:ext cx="4463403" cy="78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b="true" sz="2298">
                <a:solidFill>
                  <a:srgbClr val="2254C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</a:t>
            </a:r>
            <a:r>
              <a:rPr lang="en-US" b="true" sz="2298">
                <a:solidFill>
                  <a:srgbClr val="2254C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Tasa de incidencia de enfermedad</a:t>
            </a:r>
            <a:r>
              <a:rPr lang="en-US" b="true" sz="2298">
                <a:solidFill>
                  <a:srgbClr val="2254C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es por comuna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4509" y="5388258"/>
            <a:ext cx="4604246" cy="219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Mide casos de enfermedades por comuna.</a:t>
            </a:r>
          </a:p>
          <a:p>
            <a:pPr algn="l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Fórmula: (Casos / Población) × 1.000.</a:t>
            </a:r>
          </a:p>
          <a:p>
            <a:pPr algn="l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Identifica zonas críticas y planifica políticas sanitarias.</a:t>
            </a:r>
          </a:p>
          <a:p>
            <a:pPr algn="l" marL="345438" indent="-172719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Visualización: mapas de calor o gráficos comparativos.</a:t>
            </a:r>
          </a:p>
          <a:p>
            <a:pPr algn="l">
              <a:lnSpc>
                <a:spcPts val="223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562575" y="4201736"/>
            <a:ext cx="4427834" cy="78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b="true" sz="2298">
                <a:solidFill>
                  <a:srgbClr val="2254C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Tiempo medio de resolución de alertas por CESFAM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29154" y="5388258"/>
            <a:ext cx="5494674" cy="192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Mide tiempo promedio de resolución de alertas.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Fórmula: SUM(Fecha cierre − Fecha creación) / Total alertas resueltas.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Evalúa eficiencia de CESFAM y detecta demoras.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Visualización: gráficos de barras o líneas por centro.</a:t>
            </a:r>
          </a:p>
          <a:p>
            <a:pPr algn="l">
              <a:lnSpc>
                <a:spcPts val="223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713796" y="4201736"/>
            <a:ext cx="4429847" cy="78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b="true" sz="2298">
                <a:solidFill>
                  <a:srgbClr val="2254C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Frecuencia de alertas por tipo de medición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21556" y="5388258"/>
            <a:ext cx="5214328" cy="2197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Muestra alertas según tipo de medición (glucosa, presión, saturación, temperatura).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Fórmula: Conteo de alertas por tipo.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Permite identificar parámetros críticos y priorizar programas de salud.</a:t>
            </a:r>
          </a:p>
          <a:p>
            <a:pPr algn="l" marL="345439" indent="-172720" lvl="1">
              <a:lnSpc>
                <a:spcPts val="2239"/>
              </a:lnSpc>
              <a:buFont typeface="Arial"/>
              <a:buChar char="•"/>
            </a:pPr>
            <a:r>
              <a:rPr lang="en-US" sz="15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Visualización: gráficos de barras o torta, con filtros por fecha o comuna.</a:t>
            </a:r>
          </a:p>
          <a:p>
            <a:pPr algn="l">
              <a:lnSpc>
                <a:spcPts val="2239"/>
              </a:lnSpc>
            </a:pPr>
          </a:p>
        </p:txBody>
      </p:sp>
      <p:sp>
        <p:nvSpPr>
          <p:cNvPr name="AutoShape 9" id="9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2254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  <p:sp>
        <p:nvSpPr>
          <p:cNvPr name="AutoShape 11" id="11"/>
          <p:cNvSpPr/>
          <p:nvPr/>
        </p:nvSpPr>
        <p:spPr>
          <a:xfrm flipH="true">
            <a:off x="5664815" y="3829163"/>
            <a:ext cx="0" cy="3915559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1888168" y="3829163"/>
            <a:ext cx="0" cy="3915559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82236" y="3703060"/>
            <a:ext cx="1979032" cy="1847921"/>
          </a:xfrm>
          <a:custGeom>
            <a:avLst/>
            <a:gdLst/>
            <a:ahLst/>
            <a:cxnLst/>
            <a:rect r="r" b="b" t="t" l="l"/>
            <a:pathLst>
              <a:path h="1847921" w="1979032">
                <a:moveTo>
                  <a:pt x="0" y="0"/>
                </a:moveTo>
                <a:lnTo>
                  <a:pt x="1979031" y="0"/>
                </a:lnTo>
                <a:lnTo>
                  <a:pt x="1979031" y="1847921"/>
                </a:lnTo>
                <a:lnTo>
                  <a:pt x="0" y="18479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61479" y="3703060"/>
            <a:ext cx="1847921" cy="1847921"/>
          </a:xfrm>
          <a:custGeom>
            <a:avLst/>
            <a:gdLst/>
            <a:ahLst/>
            <a:cxnLst/>
            <a:rect r="r" b="b" t="t" l="l"/>
            <a:pathLst>
              <a:path h="1847921" w="1847921">
                <a:moveTo>
                  <a:pt x="0" y="0"/>
                </a:moveTo>
                <a:lnTo>
                  <a:pt x="1847921" y="0"/>
                </a:lnTo>
                <a:lnTo>
                  <a:pt x="1847921" y="1847921"/>
                </a:lnTo>
                <a:lnTo>
                  <a:pt x="0" y="1847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09612" y="3703060"/>
            <a:ext cx="2206473" cy="1847921"/>
          </a:xfrm>
          <a:custGeom>
            <a:avLst/>
            <a:gdLst/>
            <a:ahLst/>
            <a:cxnLst/>
            <a:rect r="r" b="b" t="t" l="l"/>
            <a:pathLst>
              <a:path h="1847921" w="2206473">
                <a:moveTo>
                  <a:pt x="0" y="0"/>
                </a:moveTo>
                <a:lnTo>
                  <a:pt x="2206473" y="0"/>
                </a:lnTo>
                <a:lnTo>
                  <a:pt x="2206473" y="1847921"/>
                </a:lnTo>
                <a:lnTo>
                  <a:pt x="0" y="18479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73706" y="3703060"/>
            <a:ext cx="2747838" cy="1847921"/>
          </a:xfrm>
          <a:custGeom>
            <a:avLst/>
            <a:gdLst/>
            <a:ahLst/>
            <a:cxnLst/>
            <a:rect r="r" b="b" t="t" l="l"/>
            <a:pathLst>
              <a:path h="1847921" w="2747838">
                <a:moveTo>
                  <a:pt x="0" y="0"/>
                </a:moveTo>
                <a:lnTo>
                  <a:pt x="2747838" y="0"/>
                </a:lnTo>
                <a:lnTo>
                  <a:pt x="2747838" y="1847921"/>
                </a:lnTo>
                <a:lnTo>
                  <a:pt x="0" y="18479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26394" y="3703060"/>
            <a:ext cx="1979370" cy="1847921"/>
          </a:xfrm>
          <a:custGeom>
            <a:avLst/>
            <a:gdLst/>
            <a:ahLst/>
            <a:cxnLst/>
            <a:rect r="r" b="b" t="t" l="l"/>
            <a:pathLst>
              <a:path h="1847921" w="1979370">
                <a:moveTo>
                  <a:pt x="0" y="0"/>
                </a:moveTo>
                <a:lnTo>
                  <a:pt x="1979370" y="0"/>
                </a:lnTo>
                <a:lnTo>
                  <a:pt x="1979370" y="1847921"/>
                </a:lnTo>
                <a:lnTo>
                  <a:pt x="0" y="18479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2371" t="0" r="-2237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20935" y="3703060"/>
            <a:ext cx="1847921" cy="1847921"/>
          </a:xfrm>
          <a:custGeom>
            <a:avLst/>
            <a:gdLst/>
            <a:ahLst/>
            <a:cxnLst/>
            <a:rect r="r" b="b" t="t" l="l"/>
            <a:pathLst>
              <a:path h="1847921" w="1847921">
                <a:moveTo>
                  <a:pt x="0" y="0"/>
                </a:moveTo>
                <a:lnTo>
                  <a:pt x="1847921" y="0"/>
                </a:lnTo>
                <a:lnTo>
                  <a:pt x="1847921" y="1847921"/>
                </a:lnTo>
                <a:lnTo>
                  <a:pt x="0" y="18479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45688" y="1600926"/>
            <a:ext cx="10504373" cy="117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9"/>
              </a:lnSpc>
            </a:pPr>
            <a:r>
              <a:rPr lang="en-US" sz="6863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Tecnologías utilizadas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6932" y="5608131"/>
            <a:ext cx="1069639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2499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63946" y="5608131"/>
            <a:ext cx="642988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2499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09612" y="5608131"/>
            <a:ext cx="2159971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2499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SQLalchemy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85612" y="5608131"/>
            <a:ext cx="518566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2499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51313" y="5608131"/>
            <a:ext cx="992624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2499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SMTP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559115" y="5608131"/>
            <a:ext cx="1313928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2499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FastAPI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2254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395210" y="4656442"/>
            <a:ext cx="3497580" cy="4114800"/>
          </a:xfrm>
          <a:custGeom>
            <a:avLst/>
            <a:gdLst/>
            <a:ahLst/>
            <a:cxnLst/>
            <a:rect r="r" b="b" t="t" l="l"/>
            <a:pathLst>
              <a:path h="4114800" w="3497580">
                <a:moveTo>
                  <a:pt x="0" y="0"/>
                </a:moveTo>
                <a:lnTo>
                  <a:pt x="3497580" y="0"/>
                </a:lnTo>
                <a:lnTo>
                  <a:pt x="34975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91813" y="2544085"/>
            <a:ext cx="10504373" cy="117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9"/>
              </a:lnSpc>
            </a:pPr>
            <a:r>
              <a:rPr lang="en-US" sz="6863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Resultados obtenidos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2254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923022" y="4508272"/>
            <a:ext cx="6441957" cy="4114800"/>
          </a:xfrm>
          <a:custGeom>
            <a:avLst/>
            <a:gdLst/>
            <a:ahLst/>
            <a:cxnLst/>
            <a:rect r="r" b="b" t="t" l="l"/>
            <a:pathLst>
              <a:path h="4114800" w="6441957">
                <a:moveTo>
                  <a:pt x="0" y="0"/>
                </a:moveTo>
                <a:lnTo>
                  <a:pt x="6441956" y="0"/>
                </a:lnTo>
                <a:lnTo>
                  <a:pt x="64419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17907" y="2544085"/>
            <a:ext cx="5252187" cy="117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9"/>
              </a:lnSpc>
            </a:pPr>
            <a:r>
              <a:rPr lang="en-US" sz="6863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Obstáculos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2254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904653" y="4824311"/>
            <a:ext cx="4478694" cy="4114800"/>
          </a:xfrm>
          <a:custGeom>
            <a:avLst/>
            <a:gdLst/>
            <a:ahLst/>
            <a:cxnLst/>
            <a:rect r="r" b="b" t="t" l="l"/>
            <a:pathLst>
              <a:path h="4114800" w="4478694">
                <a:moveTo>
                  <a:pt x="0" y="0"/>
                </a:moveTo>
                <a:lnTo>
                  <a:pt x="4478694" y="0"/>
                </a:lnTo>
                <a:lnTo>
                  <a:pt x="44786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64716" y="1786664"/>
            <a:ext cx="13358569" cy="3616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9"/>
              </a:lnSpc>
            </a:pPr>
            <a:r>
              <a:rPr lang="en-US" sz="6863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DEMOSTRACIÓN DEL RESULTADO DEL PROYECTO</a:t>
            </a:r>
          </a:p>
          <a:p>
            <a:pPr algn="l">
              <a:lnSpc>
                <a:spcPts val="960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2254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543914" y="4169242"/>
            <a:ext cx="3453003" cy="4114800"/>
          </a:xfrm>
          <a:custGeom>
            <a:avLst/>
            <a:gdLst/>
            <a:ahLst/>
            <a:cxnLst/>
            <a:rect r="r" b="b" t="t" l="l"/>
            <a:pathLst>
              <a:path h="4114800" w="3453003">
                <a:moveTo>
                  <a:pt x="0" y="0"/>
                </a:moveTo>
                <a:lnTo>
                  <a:pt x="3453003" y="0"/>
                </a:lnTo>
                <a:lnTo>
                  <a:pt x="345300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08351" y="1569685"/>
            <a:ext cx="9471298" cy="117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9"/>
              </a:lnSpc>
            </a:pPr>
            <a:r>
              <a:rPr lang="en-US" sz="6863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COMENTARIO FINAL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2254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378065" y="4167118"/>
            <a:ext cx="3531870" cy="4114800"/>
          </a:xfrm>
          <a:custGeom>
            <a:avLst/>
            <a:gdLst/>
            <a:ahLst/>
            <a:cxnLst/>
            <a:rect r="r" b="b" t="t" l="l"/>
            <a:pathLst>
              <a:path h="4114800" w="3531870">
                <a:moveTo>
                  <a:pt x="0" y="0"/>
                </a:moveTo>
                <a:lnTo>
                  <a:pt x="3531870" y="0"/>
                </a:lnTo>
                <a:lnTo>
                  <a:pt x="35318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27811" y="1565438"/>
            <a:ext cx="6832378" cy="117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9"/>
              </a:lnSpc>
            </a:pPr>
            <a:r>
              <a:rPr lang="en-US" sz="6863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¿PREGUNTAS?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2254C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225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8039" y="2470562"/>
            <a:ext cx="13059340" cy="5069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5"/>
              </a:lnSpc>
            </a:pPr>
            <a:r>
              <a:rPr lang="en-US" sz="1453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MUCHAS GRACIAS</a:t>
            </a:r>
          </a:p>
        </p:txBody>
      </p:sp>
      <p:sp>
        <p:nvSpPr>
          <p:cNvPr name="AutoShape 3" id="3"/>
          <p:cNvSpPr/>
          <p:nvPr/>
        </p:nvSpPr>
        <p:spPr>
          <a:xfrm>
            <a:off x="-970252" y="9719678"/>
            <a:ext cx="2033560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1850061" y="793106"/>
            <a:ext cx="697692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981190"/>
            <a:ext cx="1858260" cy="27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b="true" sz="1656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17-11-2025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DAG4zw4lyEE</dc:identifier>
  <dcterms:modified xsi:type="dcterms:W3CDTF">2011-08-01T06:04:30Z</dcterms:modified>
  <cp:revision>1</cp:revision>
  <dc:title>White Blue Simple Business Pitch Deck Presentation</dc:title>
</cp:coreProperties>
</file>